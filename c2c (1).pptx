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0576" y="2505075"/>
            <a:ext cx="6770846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350" b="1" i="0" u="none">
                <a:solidFill>
                  <a:srgbClr val="F9FAFB"/>
                </a:solidFill>
                <a:latin typeface="Poppins"/>
              </a:rPr>
              <a:t>Dark Pattern </a:t>
            </a:r>
            <a:r>
              <a:rPr sz="4350" b="1" i="0" u="none">
                <a:solidFill>
                  <a:srgbClr val="38BDF8"/>
                </a:solidFill>
                <a:latin typeface="Poppins"/>
              </a:rPr>
              <a:t>Guardian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1787" y="3476625"/>
            <a:ext cx="6448425" cy="229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350" b="0" i="0" u="none" dirty="0">
                <a:solidFill>
                  <a:srgbClr val="9CA3AF"/>
                </a:solidFill>
                <a:latin typeface="Lato"/>
              </a:rPr>
              <a:t>Code2Create</a:t>
            </a:r>
            <a:r>
              <a:rPr sz="1350" b="0" i="0" u="none" dirty="0">
                <a:solidFill>
                  <a:srgbClr val="9CA3AF"/>
                </a:solidFill>
                <a:latin typeface="Lato"/>
              </a:rPr>
              <a:t>| Theme: Fintech / Consumer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1787" y="3924300"/>
            <a:ext cx="64484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1" i="0" u="none">
                <a:solidFill>
                  <a:srgbClr val="38BDF8"/>
                </a:solidFill>
                <a:latin typeface="Lato"/>
              </a:rPr>
              <a:t>Team Infinite Loop | 100% Built From Scratch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200275"/>
            <a:ext cx="3517850" cy="30003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00" y="2200275"/>
            <a:ext cx="3517850" cy="3000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200275"/>
            <a:ext cx="3517850" cy="3000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9FAFB"/>
                </a:solidFill>
                <a:latin typeface="Poppins"/>
              </a:rPr>
              <a:t>Problem Statement &amp;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29337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oppins"/>
              </a:rPr>
              <a:t>The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3495675"/>
            <a:ext cx="30225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Lato"/>
              </a:rPr>
              <a:t>Over 76% of websites and apps examined in a 2024 ICPEN review used at least one possible dark pattern, including urgency and hidden-information tactics.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29337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oppins"/>
              </a:rPr>
              <a:t>Consumer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495675"/>
            <a:ext cx="30225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Lato"/>
              </a:rPr>
              <a:t>Consumers can face rushed decisions, unintended purchases, privacy compromises, and unexpected costs due to manipulative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2933700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oppins"/>
              </a:rPr>
              <a:t>Current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495675"/>
            <a:ext cx="30225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Lato"/>
              </a:rPr>
              <a:t>Existing ad blockers and anti-trackers miss semantic UI manipulation, failing to catch predatory copy, confirmshaming, and subtle drip pricing.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486025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650" y="2486025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625" y="248602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9FAFB"/>
                </a:solidFill>
                <a:latin typeface="Poppins"/>
              </a:rPr>
              <a:t>Proposed Solution &amp; Novelty (Built From Scratch)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86100"/>
            <a:ext cx="10696575" cy="236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1" i="0" u="none">
                <a:solidFill>
                  <a:srgbClr val="9CA3AF"/>
                </a:solidFill>
                <a:latin typeface="Lato"/>
              </a:rPr>
              <a:t>Zero External APIs:</a:t>
            </a:r>
            <a:r>
              <a:rPr sz="1600" b="0" i="0" u="none">
                <a:solidFill>
                  <a:srgbClr val="9CA3AF"/>
                </a:solidFill>
                <a:latin typeface="Lato"/>
              </a:rPr>
              <a:t> Entirely free from commercial wrapper libraries or third-party web scrapers.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95675"/>
            <a:ext cx="10696575" cy="236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1" i="0" u="none">
                <a:solidFill>
                  <a:srgbClr val="9CA3AF"/>
                </a:solidFill>
                <a:latin typeface="Lato"/>
              </a:rPr>
              <a:t>Lightweight MV3 Bridge:</a:t>
            </a:r>
            <a:r>
              <a:rPr sz="1600" b="0" i="0" u="none">
                <a:solidFill>
                  <a:srgbClr val="9CA3AF"/>
                </a:solidFill>
                <a:latin typeface="Lato"/>
              </a:rPr>
              <a:t> Custom Chrome extension leveraging `activeTab` permissions to scan page text securely.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05250"/>
            <a:ext cx="10696575" cy="492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1" i="0" u="none">
                <a:solidFill>
                  <a:srgbClr val="9CA3AF"/>
                </a:solidFill>
                <a:latin typeface="Lato"/>
              </a:rPr>
              <a:t>Proprietary Heuristic Parser:</a:t>
            </a:r>
            <a:r>
              <a:rPr sz="1600" b="0" i="0" u="none">
                <a:solidFill>
                  <a:srgbClr val="9CA3AF"/>
                </a:solidFill>
                <a:latin typeface="Lato"/>
              </a:rPr>
              <a:t> Custom-coded Python regex engine and threat-scoring matrix designed from the ground up.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11943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52901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938587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9FAFB"/>
                </a:solidFill>
                <a:latin typeface="Poppins"/>
              </a:rPr>
              <a:t>Technical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2757487"/>
            <a:ext cx="5324475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9CA3AF"/>
                </a:solidFill>
                <a:latin typeface="Lato"/>
              </a:rPr>
              <a:t>1. DOM Extraction:</a:t>
            </a:r>
            <a:r>
              <a:rPr sz="1350" b="0" i="0" u="none" dirty="0">
                <a:solidFill>
                  <a:srgbClr val="9CA3AF"/>
                </a:solidFill>
                <a:latin typeface="Lato"/>
              </a:rPr>
              <a:t> </a:t>
            </a:r>
            <a:r>
              <a:rPr lang="en-US" sz="1350" dirty="0">
                <a:solidFill>
                  <a:srgbClr val="9CA3AF"/>
                </a:solidFill>
                <a:latin typeface="Lato"/>
              </a:rPr>
              <a:t>Injects lightweight client script upon page load to extract text payload instantly from active page body.</a:t>
            </a:r>
            <a:endParaRPr sz="1350" b="0" i="0" u="none" dirty="0">
              <a:solidFill>
                <a:srgbClr val="9CA3AF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1025" y="3443287"/>
            <a:ext cx="5613298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9CA3AF"/>
                </a:solidFill>
                <a:latin typeface="Lato"/>
              </a:rPr>
              <a:t>2. Secure Transmission:</a:t>
            </a:r>
            <a:r>
              <a:rPr sz="1350" b="0" i="0" u="none" dirty="0">
                <a:solidFill>
                  <a:srgbClr val="9CA3AF"/>
                </a:solidFill>
                <a:latin typeface="Lato"/>
              </a:rPr>
              <a:t> </a:t>
            </a:r>
            <a:r>
              <a:rPr lang="en-US" sz="1350" dirty="0">
                <a:solidFill>
                  <a:srgbClr val="9CA3AF"/>
                </a:solidFill>
                <a:latin typeface="Lato"/>
              </a:rPr>
              <a:t>Background event handler relays extracted payload via zero-latency messaging bridge to Local Flask backend server.</a:t>
            </a:r>
            <a:endParaRPr sz="1350" b="0" i="0" u="none" dirty="0">
              <a:solidFill>
                <a:srgbClr val="9CA3AF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1025" y="4129087"/>
            <a:ext cx="5324475" cy="742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9CA3AF"/>
                </a:solidFill>
                <a:latin typeface="Lato"/>
              </a:rPr>
              <a:t>3. Heuristic Analysis:</a:t>
            </a:r>
            <a:r>
              <a:rPr sz="1350" b="0" i="0" u="none" dirty="0">
                <a:solidFill>
                  <a:srgbClr val="9CA3AF"/>
                </a:solidFill>
                <a:latin typeface="Lato"/>
              </a:rPr>
              <a:t> Python backend evaluates text </a:t>
            </a:r>
            <a:r>
              <a:rPr lang="en-US" sz="1350" b="0" i="0" u="none" dirty="0">
                <a:solidFill>
                  <a:srgbClr val="9CA3AF"/>
                </a:solidFill>
                <a:latin typeface="Lato"/>
              </a:rPr>
              <a:t>stream </a:t>
            </a:r>
            <a:r>
              <a:rPr sz="1350" b="0" i="0" u="none" dirty="0">
                <a:solidFill>
                  <a:srgbClr val="9CA3AF"/>
                </a:solidFill>
                <a:latin typeface="Lato"/>
              </a:rPr>
              <a:t>against custom </a:t>
            </a:r>
            <a:r>
              <a:rPr lang="en-US" sz="1350" b="0" i="0" u="none" dirty="0">
                <a:solidFill>
                  <a:srgbClr val="9CA3AF"/>
                </a:solidFill>
                <a:latin typeface="Lato"/>
              </a:rPr>
              <a:t>regex </a:t>
            </a:r>
            <a:r>
              <a:rPr sz="1350" b="0" i="0" u="none" dirty="0">
                <a:solidFill>
                  <a:srgbClr val="9CA3AF"/>
                </a:solidFill>
                <a:latin typeface="Lato"/>
              </a:rPr>
              <a:t>pattern dictionaries </a:t>
            </a:r>
            <a:r>
              <a:rPr lang="en-US" sz="1350" b="0" i="0" u="none" dirty="0">
                <a:solidFill>
                  <a:srgbClr val="9CA3AF"/>
                </a:solidFill>
                <a:latin typeface="Lato"/>
              </a:rPr>
              <a:t>to calculate risk metrics and threat scores.</a:t>
            </a:r>
            <a:endParaRPr sz="1350" b="0" i="0" u="none" dirty="0">
              <a:solidFill>
                <a:srgbClr val="9CA3AF"/>
              </a:solidFill>
              <a:latin typeface="La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C29B95-0899-ED47-DE6F-088DFE215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2" y="2799478"/>
            <a:ext cx="5171737" cy="1569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328862"/>
            <a:ext cx="3517850" cy="2743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00" y="2328862"/>
            <a:ext cx="3517850" cy="2743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975" y="2328862"/>
            <a:ext cx="351785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9FAFB"/>
                </a:solidFill>
                <a:latin typeface="Poppins"/>
              </a:rPr>
              <a:t>Feasibility &amp; Implementation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8675" y="3062287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oppins"/>
              </a:rPr>
              <a:t>High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3624262"/>
            <a:ext cx="30225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Lato"/>
              </a:rPr>
              <a:t>Extracting relevant page text instead of raw HTML reduces unnecessary data transfer and processing overhead..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4650" y="3062287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oppins"/>
              </a:rPr>
              <a:t>Privacy-Focused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4650" y="3624262"/>
            <a:ext cx="30225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Lato"/>
              </a:rPr>
              <a:t>The MVP is designed for stateless analysis: page text is processed for the scan without storing it as persistent user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0625" y="3062287"/>
            <a:ext cx="317367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oppins"/>
              </a:rPr>
              <a:t>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624262"/>
            <a:ext cx="30225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CA3AF"/>
                </a:solidFill>
                <a:latin typeface="Lato"/>
              </a:rPr>
              <a:t>Modular Python architecture allows seamless future scaling into machine learning models and open-source zero-shot transformers.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614612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650" y="2614612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625" y="2614612"/>
            <a:ext cx="2667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11581447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9FAFB"/>
                </a:solidFill>
                <a:latin typeface="Poppins"/>
              </a:rPr>
              <a:t>Competitive Advantage &amp; Expected Impact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671762"/>
          <a:ext cx="11020423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6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8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9FAFB"/>
                          </a:solidFill>
                          <a:latin typeface="Poppins"/>
                        </a:rPr>
                        <a:t>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9FAFB"/>
                          </a:solidFill>
                          <a:latin typeface="Poppins"/>
                        </a:rPr>
                        <a:t>Standard AdBlockers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9FAFB"/>
                          </a:solidFill>
                          <a:latin typeface="Poppins"/>
                        </a:rPr>
                        <a:t>Anti-Trackers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9FAFB"/>
                          </a:solidFill>
                          <a:latin typeface="Poppins"/>
                        </a:rPr>
                        <a:t>Dark Pattern Guardian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Detects Fake Scarcity &amp; Urgency Timers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4D399"/>
                          </a:solidFill>
                          <a:latin typeface="Lato"/>
                        </a:rPr>
                        <a:t>✓ Yes (Custom Engine)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Unmasks Hidden Drip Fees &amp; Confirmshaming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4D399"/>
                          </a:solidFill>
                          <a:latin typeface="Lato"/>
                        </a:rPr>
                        <a:t>✓ Yes (Heuristic Weights)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Built 100% From Scratch (Zero Black-Box APIs)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CA3AF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4D399"/>
                          </a:solidFill>
                          <a:latin typeface="Lato"/>
                        </a:rPr>
                        <a:t>✓ Yes (Full Compliance)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353175"/>
            <a:ext cx="1102995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821" y="1579215"/>
            <a:ext cx="2888902" cy="16839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1474" y="1579215"/>
            <a:ext cx="2888902" cy="16839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277" y="1561130"/>
            <a:ext cx="2888902" cy="16839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4222" y="3548955"/>
            <a:ext cx="2888902" cy="195828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3548955"/>
            <a:ext cx="2888902" cy="1958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Poppins"/>
              </a:rPr>
              <a:t>The Innovators Behind the Engine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4225" y="586680"/>
            <a:ext cx="1619250" cy="255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6505575"/>
            <a:ext cx="22669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JetBrains Mono"/>
              </a:rPr>
              <a:t>Team Infinite loop | Meet the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44250" y="6505575"/>
            <a:ext cx="466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JetBrains Mono"/>
              </a:rPr>
              <a:t>13 /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88235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64748B"/>
                </a:solidFill>
                <a:latin typeface="JetBrains Mono"/>
              </a:rPr>
              <a:t>&gt; Ready to deploy at scale. Let's protect the web.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4510" y="1874490"/>
            <a:ext cx="333375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92898" y="2403125"/>
            <a:ext cx="2056597" cy="276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IN" b="1" dirty="0">
                <a:solidFill>
                  <a:srgbClr val="F1F5F9"/>
                </a:solidFill>
                <a:latin typeface="Poppins"/>
              </a:rPr>
              <a:t>Amrutha Siri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1598" y="2767905"/>
            <a:ext cx="1219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JetBrains Mono"/>
              </a:rPr>
              <a:t>Backend / Python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9163" y="1874490"/>
            <a:ext cx="33337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80724" y="2445990"/>
            <a:ext cx="2030253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i="0" u="none" dirty="0">
                <a:solidFill>
                  <a:srgbClr val="F1F5F9"/>
                </a:solidFill>
                <a:latin typeface="Poppins"/>
              </a:rPr>
              <a:t>Dhruv Nema</a:t>
            </a:r>
            <a:endParaRPr sz="1800" b="1" i="0" u="none" dirty="0">
              <a:solidFill>
                <a:srgbClr val="F1F5F9"/>
              </a:solidFill>
              <a:latin typeface="Poppi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24351" y="2767905"/>
            <a:ext cx="1143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JetBrains Mono"/>
              </a:rPr>
              <a:t>Extension / MV3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3816" y="1874490"/>
            <a:ext cx="333375" cy="381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01300" y="2419602"/>
            <a:ext cx="1974092" cy="276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i="0" u="none" dirty="0">
                <a:solidFill>
                  <a:srgbClr val="F1F5F9"/>
                </a:solidFill>
                <a:latin typeface="Poppins"/>
              </a:rPr>
              <a:t>Adarsh Sreeram</a:t>
            </a:r>
            <a:endParaRPr sz="1800" b="1" i="0" u="none" dirty="0">
              <a:solidFill>
                <a:srgbClr val="F1F5F9"/>
              </a:solidFill>
              <a:latin typeface="Poppi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60903" y="2767905"/>
            <a:ext cx="12192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JetBrains Mono"/>
              </a:rPr>
              <a:t>NLP / Heuristics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0474" y="3844230"/>
            <a:ext cx="47625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01964" y="4479422"/>
            <a:ext cx="2413270" cy="276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1" i="0" u="none" dirty="0">
                <a:solidFill>
                  <a:srgbClr val="F1F5F9"/>
                </a:solidFill>
                <a:latin typeface="Poppins"/>
              </a:rPr>
              <a:t>Asmita Nag</a:t>
            </a:r>
            <a:endParaRPr sz="1800" b="1" i="0" u="none" dirty="0">
              <a:solidFill>
                <a:srgbClr val="F1F5F9"/>
              </a:solidFill>
              <a:latin typeface="Poppi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42862" y="4909830"/>
            <a:ext cx="914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JetBrains Mono"/>
              </a:rPr>
              <a:t>Data / Regex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5126" y="3844230"/>
            <a:ext cx="476250" cy="381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6473" y="4479422"/>
            <a:ext cx="2721304" cy="558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IN" b="1" dirty="0">
                <a:solidFill>
                  <a:srgbClr val="F1F5F9"/>
                </a:solidFill>
                <a:latin typeface="Poppins"/>
              </a:rPr>
              <a:t>Bhavya </a:t>
            </a:r>
            <a:r>
              <a:rPr lang="en-IN" b="1" dirty="0" err="1">
                <a:solidFill>
                  <a:srgbClr val="F1F5F9"/>
                </a:solidFill>
                <a:latin typeface="Poppins"/>
              </a:rPr>
              <a:t>Mangrauthia</a:t>
            </a:r>
            <a:endParaRPr lang="en-IN" b="1" dirty="0">
              <a:solidFill>
                <a:srgbClr val="F1F5F9"/>
              </a:solidFill>
              <a:latin typeface="Poppins"/>
            </a:endParaRPr>
          </a:p>
          <a:p>
            <a:pPr algn="ctr">
              <a:lnSpc>
                <a:spcPts val="2160"/>
              </a:lnSpc>
            </a:pPr>
            <a:endParaRPr sz="1800" b="1" i="0" u="none" dirty="0">
              <a:solidFill>
                <a:srgbClr val="F1F5F9"/>
              </a:solidFill>
              <a:latin typeface="Poppin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11751" y="4909829"/>
            <a:ext cx="1143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 dirty="0">
                <a:solidFill>
                  <a:srgbClr val="94A3B8"/>
                </a:solidFill>
                <a:latin typeface="JetBrains Mono"/>
              </a:rPr>
              <a:t>UI / UX / Popup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412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JetBrains Mono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Aanya Nema</dc:creator>
  <cp:keywords/>
  <dc:description>generated using python-pptx</dc:description>
  <cp:lastModifiedBy>Sitali Nema</cp:lastModifiedBy>
  <cp:revision>4</cp:revision>
  <dcterms:created xsi:type="dcterms:W3CDTF">2013-01-27T09:14:16Z</dcterms:created>
  <dcterms:modified xsi:type="dcterms:W3CDTF">2026-09-03T14:22:22Z</dcterms:modified>
  <cp:category/>
</cp:coreProperties>
</file>