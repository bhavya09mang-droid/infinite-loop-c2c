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1832223"/>
            <a:ext cx="5190648" cy="2357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187"/>
              </a:lnSpc>
            </a:pPr>
            <a:r>
              <a:rPr b="1" sz="5625" i="0" u="none">
                <a:solidFill>
                  <a:srgbClr val="F8FAFC"/>
                </a:solidFill>
                <a:latin typeface="Space Grotesk"/>
              </a:rPr>
              <a:t>DARK</a:t>
            </a:r>
            <a:r>
              <a:t>
</a:t>
            </a:r>
            <a:r>
              <a:rPr b="1" sz="5625" i="0" u="none">
                <a:solidFill>
                  <a:srgbClr val="F8FAFC"/>
                </a:solidFill>
                <a:latin typeface="Space Grotesk"/>
              </a:rPr>
              <a:t> PATTERN</a:t>
            </a:r>
            <a:r>
              <a:t>
</a:t>
            </a:r>
            <a:r>
              <a:rPr b="1" sz="5625" i="0" u="none">
                <a:solidFill>
                  <a:srgbClr val="00E5FF"/>
                </a:solidFill>
                <a:latin typeface="Space Grotesk"/>
              </a:rPr>
              <a:t>GUARDIAN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4380160"/>
            <a:ext cx="494347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Protecting consumers from manipulative UX in real-time.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5587751"/>
            <a:ext cx="49434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E5FF"/>
                </a:solidFill>
                <a:latin typeface="Space Grotesk SemiBold"/>
              </a:rPr>
              <a:t>Team Infinite Loop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525"/>
            <a:ext cx="6086475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822573"/>
            <a:ext cx="3114675" cy="3143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1327398"/>
            <a:ext cx="206692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143125"/>
            <a:ext cx="522922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307008"/>
            <a:ext cx="522922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F8FAFC"/>
                </a:solidFill>
                <a:latin typeface="Inter"/>
              </a:rPr>
              <a:t>Dark Pattern Guardian</a:t>
            </a:r>
            <a:r>
              <a:rPr b="0" sz="1650" i="0" u="none">
                <a:solidFill>
                  <a:srgbClr val="F8FAFC"/>
                </a:solidFill>
                <a:latin typeface="Inter"/>
              </a:rPr>
              <a:t> is a purpose-built Chrome Extension designed as a digital shield against e-commerce manipulation.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2598241"/>
            <a:ext cx="48482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Seamless Integration: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Resides quietly in your browser toolbar without disrupting standard navigation.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750766"/>
            <a:ext cx="48482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Autonomous Scanning: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Silently analyzes page text during checkout flows to identify manipulative tactics.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4903291"/>
            <a:ext cx="48482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Instant Alerts: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Provides color-coded UI warnings when fake urgency or hidden fees are detected.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5751016"/>
            <a:ext cx="48482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100% Private: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Runs locally on your device—your browsing habits and data never leave your machine.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2152650"/>
            <a:ext cx="5210175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259258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8FAFC"/>
                </a:solidFill>
                <a:latin typeface="Space Grotesk"/>
              </a:rPr>
              <a:t>The Guardian Extension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025" y="906958"/>
            <a:ext cx="1102995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617291"/>
            <a:ext cx="209550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769816"/>
            <a:ext cx="209550" cy="219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922341"/>
            <a:ext cx="209550" cy="2190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770066"/>
            <a:ext cx="20955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00225"/>
            <a:ext cx="3486150" cy="4305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1800225"/>
            <a:ext cx="3486150" cy="4305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800225"/>
            <a:ext cx="3486150" cy="43053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0550" y="3933825"/>
            <a:ext cx="34671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6300" y="2952750"/>
            <a:ext cx="30403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8FAFC"/>
                </a:solidFill>
                <a:latin typeface="Space Grotesk SemiBold"/>
              </a:rPr>
              <a:t>The Crisis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438525"/>
            <a:ext cx="289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Over 76% of websites and apps examined in a recent 2024 ICPEN review utilized at least one possible dark pattern, including aggressive urgency and hidden-information tactics.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2450" y="3933825"/>
            <a:ext cx="34671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8200" y="2952750"/>
            <a:ext cx="30403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8FAFC"/>
                </a:solidFill>
                <a:latin typeface="Space Grotesk SemiBold"/>
              </a:rPr>
              <a:t>Consumer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3438525"/>
            <a:ext cx="2895600" cy="213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Consumers routinely face rushed decisions, unintended purchases, privacy compromises, and unexpected "drip pricing" costs due to highly manipulative user interface design.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4350" y="3933825"/>
            <a:ext cx="34671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20100" y="2952750"/>
            <a:ext cx="30403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8FAFC"/>
                </a:solidFill>
                <a:latin typeface="Space Grotesk SemiBold"/>
              </a:rPr>
              <a:t>Current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0100" y="3438525"/>
            <a:ext cx="289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Existing ad blockers and anti-trackers miss semantic UI manipulation. They inherently fail to catch predatory copy, confirmshaming, and subtle psychological pressure tactics.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238375"/>
            <a:ext cx="428625" cy="4286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238375"/>
            <a:ext cx="533400" cy="4286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238375"/>
            <a:ext cx="428625" cy="4286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8FAFC"/>
                </a:solidFill>
                <a:latin typeface="Space Grotesk"/>
              </a:rPr>
              <a:t>Problem Statement &amp; Background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371600"/>
            <a:ext cx="5324475" cy="5162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371600"/>
            <a:ext cx="5324475" cy="5162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2371725"/>
            <a:ext cx="4770596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0E5FF"/>
                </a:solidFill>
                <a:latin typeface="Space Grotesk SemiBold"/>
              </a:rPr>
              <a:t>Independent MV3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2809875"/>
            <a:ext cx="454342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Zero External APIs &amp; Web Scrapers: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We completely eliminated reliance on commercial wrapper libraries. Our solution is built entirely from scratch.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4171950"/>
            <a:ext cx="454342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Lightweight Chrome Extension: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Built using modern Manifest V3 standards. It leverages strict 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activeTab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permissions to securely access page text on demand without causing background memory bloat or compromising continuous privacy.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2371725"/>
            <a:ext cx="4770596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0E5FF"/>
                </a:solidFill>
                <a:latin typeface="Space Grotesk SemiBold"/>
              </a:rPr>
              <a:t>Intelligent Detection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2809875"/>
            <a:ext cx="454342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Proprietary Heuristic Parser: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At the core is a custom-coded Python regex engine and an advanced threat-scoring matrix designed exclusively by our team.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4171950"/>
            <a:ext cx="454342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Context-Aware Mitigation: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Instead of simple keyword blocking, the engine mathematically weighs linguistic triggers (e.g., "Only 1 left in stock!") to calculate a precise risk metric, immediately surfacing visual alerts to the consumer before checkout.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1800225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7025" y="1800225"/>
            <a:ext cx="381000" cy="381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323850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8FAFC"/>
                </a:solidFill>
                <a:latin typeface="Space Grotesk"/>
              </a:rPr>
              <a:t>Proposed Solution &amp; Novelty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025" y="971550"/>
            <a:ext cx="1102995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3933825"/>
            <a:ext cx="1102995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8302" y="4333875"/>
            <a:ext cx="347434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00E5FF"/>
                </a:solidFill>
                <a:latin typeface="Space Grotesk SemiBold"/>
              </a:rPr>
              <a:t>1. DOM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724400"/>
            <a:ext cx="330889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Injects lightweight client script upon page load to securely extract the text payload instantly from the active page body.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58755" y="1819275"/>
            <a:ext cx="347434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00E5FF"/>
                </a:solidFill>
                <a:latin typeface="Space Grotesk SemiBold"/>
              </a:rPr>
              <a:t>2. Secure Transmission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1477" y="2209800"/>
            <a:ext cx="330889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Background event handler relays the extracted payload via a zero-latency messaging bridge directly to the local backend server.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19208" y="4333875"/>
            <a:ext cx="347434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00E5FF"/>
                </a:solidFill>
                <a:latin typeface="Space Grotesk SemiBold"/>
              </a:rPr>
              <a:t>3. Heuristic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1930" y="4724400"/>
            <a:ext cx="330889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Python backend evaluates the text stream against custom regex dictionaries to calculate precise risk metrics and threat scores.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21172" y="38385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32B"/>
          </a:solidFill>
          <a:ln w="381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81625" y="38385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32B"/>
          </a:solidFill>
          <a:ln w="381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42078" y="38385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32B"/>
          </a:solidFill>
          <a:ln w="381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8FAFC"/>
                </a:solidFill>
                <a:latin typeface="Space Grotesk"/>
              </a:rPr>
              <a:t>Technical Architecture &amp; Workflow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52625"/>
            <a:ext cx="3486150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1952625"/>
            <a:ext cx="3486150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952625"/>
            <a:ext cx="3486150" cy="4000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0550" y="3933825"/>
            <a:ext cx="34671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6300" y="3105150"/>
            <a:ext cx="30403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8FAFC"/>
                </a:solidFill>
                <a:latin typeface="Space Grotesk SemiBold"/>
              </a:rPr>
              <a:t>High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590925"/>
            <a:ext cx="289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Extracting relevant page text instead of parsing raw, heavy HTML drastically reduces unnecessary data transfer and processing overhead, ensuring instant alerts.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2450" y="3933825"/>
            <a:ext cx="34671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8200" y="3105150"/>
            <a:ext cx="30403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8FAFC"/>
                </a:solidFill>
                <a:latin typeface="Space Grotesk SemiBold"/>
              </a:rPr>
              <a:t>Privacy-Focused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3590925"/>
            <a:ext cx="289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The MVP is strictly designed for stateless analysis: page text is processed momentarily for the threat scan without ever storing it as persistent user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4350" y="3933825"/>
            <a:ext cx="34671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20100" y="3105150"/>
            <a:ext cx="30403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8FAFC"/>
                </a:solidFill>
                <a:latin typeface="Space Grotesk SemiBold"/>
              </a:rPr>
              <a:t>Scalability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0100" y="3590925"/>
            <a:ext cx="289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The modular Python architecture allows seamless future scaling into robust machine learning models and open-source zero-shot transformers.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390775"/>
            <a:ext cx="371475" cy="4286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390775"/>
            <a:ext cx="428625" cy="4286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390775"/>
            <a:ext cx="371475" cy="4286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8FAFC"/>
                </a:solidFill>
                <a:latin typeface="Space Grotesk"/>
              </a:rPr>
              <a:t>Feasibility &amp; Implementation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95687" y="5890319"/>
            <a:ext cx="5000625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00E5FF"/>
                </a:solidFill>
                <a:latin typeface="Inter Medium"/>
              </a:rPr>
              <a:t>&gt; Ready to deploy at scale. Let's protect the web.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1025" y="1537394"/>
            <a:ext cx="11029950" cy="4067175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1025" y="1537394"/>
          <a:ext cx="11029948" cy="4067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690788"/>
                <a:gridCol w="2671316"/>
                <a:gridCol w="2012453"/>
                <a:gridCol w="2655391"/>
              </a:tblGrid>
              <a:tr h="1016793"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F8FAFC"/>
                          </a:solidFill>
                          <a:latin typeface="Space Grotesk"/>
                        </a:rPr>
                        <a:t>Capability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F8FAFC"/>
                          </a:solidFill>
                          <a:latin typeface="Space Grotesk"/>
                        </a:rPr>
                        <a:t>Standard AdBlockers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F8FAFC"/>
                          </a:solidFill>
                          <a:latin typeface="Space Grotesk"/>
                        </a:rPr>
                        <a:t>Anti-Trackers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F8FAFC"/>
                          </a:solidFill>
                          <a:latin typeface="Space Grotesk"/>
                        </a:rPr>
                        <a:t>Dark Pattern Guardian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E5FF"/>
                    </a:solidFill>
                  </a:tcPr>
                </a:tc>
              </a:tr>
              <a:tr h="1016793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Detects Fake Scarcity &amp; Urgency Timers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 Medium"/>
                        </a:rPr>
                        <a:t>No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 Medium"/>
                        </a:rPr>
                        <a:t>No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 SemiBold"/>
                        </a:rPr>
                        <a:t>Yes (Custom Engine)</a:t>
                      </a:r>
                    </a:p>
                  </a:txBody>
                  <a:tcPr anchor="ctr" marL="2857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16793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Unmasks Hidden Drip Fees &amp; Confirmshaming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 Medium"/>
                        </a:rPr>
                        <a:t>No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 Medium"/>
                        </a:rPr>
                        <a:t>No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 SemiBold"/>
                        </a:rPr>
                        <a:t>Yes (Heuristic Weights)</a:t>
                      </a:r>
                    </a:p>
                  </a:txBody>
                  <a:tcPr anchor="ctr" marL="2857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16796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Built 100% From Scratch (Zero Black-Box APIs)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 Medium"/>
                        </a:rPr>
                        <a:t>No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 Medium"/>
                        </a:rPr>
                        <a:t>No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 SemiBold"/>
                        </a:rPr>
                        <a:t>Yes (Full Compliance)</a:t>
                      </a:r>
                    </a:p>
                  </a:txBody>
                  <a:tcPr anchor="ctr" marL="2857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81025" y="2485132"/>
            <a:ext cx="369078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71813" y="2485132"/>
            <a:ext cx="267131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3129" y="2485132"/>
            <a:ext cx="20124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55583" y="2485132"/>
            <a:ext cx="265539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1025" y="3523357"/>
            <a:ext cx="369078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1813" y="3523357"/>
            <a:ext cx="267131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3129" y="3523357"/>
            <a:ext cx="20124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55583" y="3523357"/>
            <a:ext cx="265539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1025" y="4561582"/>
            <a:ext cx="369078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1813" y="4561582"/>
            <a:ext cx="267131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3129" y="4561582"/>
            <a:ext cx="20124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55583" y="4561582"/>
            <a:ext cx="265539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1333" y="4842569"/>
            <a:ext cx="17145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1333" y="3804344"/>
            <a:ext cx="171450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563" y="2918519"/>
            <a:ext cx="142875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879" y="4994969"/>
            <a:ext cx="142875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563" y="3956744"/>
            <a:ext cx="142875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563" y="4994969"/>
            <a:ext cx="142875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879" y="3956744"/>
            <a:ext cx="142875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879" y="2918519"/>
            <a:ext cx="142875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1333" y="2766119"/>
            <a:ext cx="171450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563" y="2918519"/>
            <a:ext cx="142875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879" y="2918519"/>
            <a:ext cx="142875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1333" y="2766119"/>
            <a:ext cx="171450" cy="190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563" y="3956744"/>
            <a:ext cx="142875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879" y="3956744"/>
            <a:ext cx="142875" cy="190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1333" y="3804344"/>
            <a:ext cx="171450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563" y="4994969"/>
            <a:ext cx="142875" cy="190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879" y="4994969"/>
            <a:ext cx="142875" cy="190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1333" y="4842569"/>
            <a:ext cx="171450" cy="1905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81025" y="489644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8FAFC"/>
                </a:solidFill>
                <a:latin typeface="Space Grotesk"/>
              </a:rPr>
              <a:t>Competitive Advantage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1025" y="1137344"/>
            <a:ext cx="1102995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73" y="1565969"/>
            <a:ext cx="3486001" cy="23392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1565969"/>
            <a:ext cx="3486001" cy="23392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676" y="1565969"/>
            <a:ext cx="3486001" cy="233928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123" y="4191000"/>
            <a:ext cx="3486001" cy="233928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4191000"/>
            <a:ext cx="3486001" cy="233928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5475" y="1861244"/>
            <a:ext cx="857250" cy="857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59016" y="2908994"/>
            <a:ext cx="133016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F8FAFC"/>
                </a:solidFill>
                <a:latin typeface="Space Grotesk SemiBold"/>
              </a:rPr>
              <a:t>Amrutha Siri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2112" y="3223319"/>
            <a:ext cx="13239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Space Grotesk Medium"/>
              </a:rPr>
              <a:t>Backend / Python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7226" y="1861244"/>
            <a:ext cx="857250" cy="857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45769" y="2908994"/>
            <a:ext cx="130016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F8FAFC"/>
                </a:solidFill>
                <a:latin typeface="Space Grotesk SemiBold"/>
              </a:rPr>
              <a:t>Dhruv Nema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5301" y="3223319"/>
            <a:ext cx="11811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Space Grotesk Medium"/>
              </a:rPr>
              <a:t>Extension / MV3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8977" y="1861244"/>
            <a:ext cx="857250" cy="857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12495" y="2908994"/>
            <a:ext cx="171021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F8FAFC"/>
                </a:solidFill>
                <a:latin typeface="Space Grotesk SemiBold"/>
              </a:rPr>
              <a:t>Adarsh Sreeram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1339" y="3223319"/>
            <a:ext cx="11525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Space Grotesk Medium"/>
              </a:rPr>
              <a:t>NLP / Heuristics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81425" y="4486275"/>
            <a:ext cx="857250" cy="857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599973" y="5534025"/>
            <a:ext cx="122015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F8FAFC"/>
                </a:solidFill>
                <a:latin typeface="Space Grotesk SemiBold"/>
              </a:rPr>
              <a:t>Asmita Nag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7612" y="5848350"/>
            <a:ext cx="904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Space Grotesk Medium"/>
              </a:rPr>
              <a:t>Data / Regex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3176" y="4486275"/>
            <a:ext cx="857250" cy="8572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56660" y="5534025"/>
            <a:ext cx="2250281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F8FAFC"/>
                </a:solidFill>
                <a:latin typeface="Space Grotesk SemiBold"/>
              </a:rPr>
              <a:t>Bhavya Mangrauthia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8876" y="5848350"/>
            <a:ext cx="10858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Space Grotesk Medium"/>
              </a:rPr>
              <a:t>UI / UX / Popup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57412" y="2099369"/>
            <a:ext cx="333375" cy="3810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29163" y="2099369"/>
            <a:ext cx="333375" cy="3810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00914" y="2099369"/>
            <a:ext cx="333375" cy="3810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71925" y="4724400"/>
            <a:ext cx="476250" cy="3810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43676" y="4724400"/>
            <a:ext cx="476250" cy="381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81025" y="327719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8FAFC"/>
                </a:solidFill>
                <a:latin typeface="Space Grotesk"/>
              </a:rPr>
              <a:t>The Innovators Behind the Engine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1025" y="975419"/>
            <a:ext cx="1102995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33487" y="3172866"/>
            <a:ext cx="972502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3487" y="3948112"/>
            <a:ext cx="97250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33487" y="3948112"/>
            <a:ext cx="97250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487" y="332229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28862" y="3315741"/>
            <a:ext cx="862965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https://images.stockcake.com/public/e/e/7/ee7f3bfd-62f6-4526-98c2-9578bee366ed_medium/digital-shield-protection-stockcake.jpg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28862" y="3561457"/>
            <a:ext cx="86296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487" y="410706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28862" y="4100512"/>
            <a:ext cx="862965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https://cdn.prod.website-files.com/63722c0a69a5307826c01e08/6953c287730ca7cecb9c1902_uxgirl_06884_A_modern_well-lit_tech_w%20(1).jpg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8862" y="4346227"/>
            <a:ext cx="86296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uxgirl.com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8FAFC"/>
                </a:solidFill>
                <a:latin typeface="Space Grotesk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