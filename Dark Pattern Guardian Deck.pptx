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73746"/>
            <a:ext cx="520065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Dark Pattern</a:t>
            </a:r>
            <a:r>
              <a:t>
</a:t>
            </a:r>
            <a:r>
              <a:rPr b="1" sz="4800" i="0" u="none">
                <a:solidFill>
                  <a:srgbClr val="0EA5E9"/>
                </a:solidFill>
                <a:latin typeface="Plus Jakarta Sans"/>
              </a:rPr>
              <a:t>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05187"/>
            <a:ext cx="4457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A 100% Built From Scratch Solution for Fintech &amp; Consumer Protection.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55641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4641353"/>
            <a:ext cx="11430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Code2Create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4655641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86125" y="4641353"/>
            <a:ext cx="15144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Plus Jakarta Sans SemiBold"/>
              </a:rPr>
              <a:t>Team Infinite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73423"/>
            <a:ext cx="52768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628775"/>
            <a:ext cx="5276850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F1F5F9"/>
                </a:solidFill>
                <a:latin typeface="Plus Jakarta Sans"/>
              </a:rPr>
              <a:t>Dark Pattern Guardian</a:t>
            </a:r>
            <a:r>
              <a:rPr b="0" sz="1650" i="0" u="none">
                <a:solidFill>
                  <a:srgbClr val="F1F5F9"/>
                </a:solidFill>
                <a:latin typeface="Plus Jakarta Sans"/>
              </a:rPr>
              <a:t> is a purpose-built Chrome Extension designed as a digital shield against e-commerce manipulation.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2952750"/>
            <a:ext cx="4848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Seamless Integration: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Resides quietly in your browser toolbar without disrupting standard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787080"/>
            <a:ext cx="4848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Autonomous Scanning: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Silently analyzes page text during checkout flows to identify manipulative tactics.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621410"/>
            <a:ext cx="4848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Instant Alerts: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Provides color-coded UI warnings when fake urgency or hidden fees are detected.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5455741"/>
            <a:ext cx="48482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100% Private: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Runs locally on your device—your browsing habits and data never leave your machine.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682948"/>
            <a:ext cx="5257800" cy="4552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67037"/>
            <a:ext cx="2476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01367"/>
            <a:ext cx="2476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635698"/>
            <a:ext cx="247650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70028"/>
            <a:ext cx="247650" cy="257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The Guardian Extension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1687"/>
            <a:ext cx="3486150" cy="3762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71687"/>
            <a:ext cx="3486150" cy="3762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71687"/>
            <a:ext cx="3486150" cy="3762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462212"/>
            <a:ext cx="666750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71862"/>
            <a:ext cx="11001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The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00487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Over 76% of websites and apps examined in a 2024 ICPEN review used at least one possible dark pattern, including urgency and hidden-information tactics.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462212"/>
            <a:ext cx="762000" cy="771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71862"/>
            <a:ext cx="209026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Consumer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900487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Consumers frequently face rushed decisions, unintended purchases, privacy compromises, and unexpected costs due to manipulative UI design.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462212"/>
            <a:ext cx="666750" cy="7715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71862"/>
            <a:ext cx="1550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Current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900487"/>
            <a:ext cx="289560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Existing ad blockers and anti-trackers miss semantic UI manipulation, ultimately failing to catch predatory copy, confirmshaming, and subtle drip pricing.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671762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075" y="2671762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267176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Problem Statement &amp;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7400"/>
            <a:ext cx="3486150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57400"/>
            <a:ext cx="3486150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57400"/>
            <a:ext cx="3486150" cy="3790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447925"/>
            <a:ext cx="666750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57575"/>
            <a:ext cx="209026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Zero External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86200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Entirely free from commercial wrapper libraries or third-party web scrapers. We built a fully independent processing pipeline to ensure total control.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447925"/>
            <a:ext cx="666750" cy="771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57575"/>
            <a:ext cx="28103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Lightweight MV3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86200"/>
            <a:ext cx="28956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A custom Chrome extension leveraging strictly 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activeTab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permissions to scan page text securely without persistent background bloat.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447925"/>
            <a:ext cx="666750" cy="7715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57575"/>
            <a:ext cx="30403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Proprietary Heuristic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4171950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Powered by a custom-coded Python regex engine and a dynamic threat-scoring matrix designed from the ground up for absolute precision.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65747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075" y="2657475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2657475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Proposed Solution &amp; Novelty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716708"/>
            <a:ext cx="5276850" cy="24723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726233"/>
            <a:ext cx="5257800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525" y="1720750"/>
            <a:ext cx="4705350" cy="961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FFFFFF"/>
                </a:solidFill>
                <a:latin typeface="Plus Jakarta Sans"/>
              </a:rPr>
              <a:t>DOM Extraction</a:t>
            </a:r>
            <a:r>
              <a:rPr b="0" sz="1425" i="0" u="none">
                <a:solidFill>
                  <a:srgbClr val="CBD5E1"/>
                </a:solidFill>
                <a:latin typeface="Plus Jakarta Sans"/>
              </a:rPr>
              <a:t> Injects lightweight client script upon page load to extract text payload instantly from active page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015853"/>
            <a:ext cx="4705350" cy="1251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FFFFFF"/>
                </a:solidFill>
                <a:latin typeface="Plus Jakarta Sans"/>
              </a:rPr>
              <a:t>Secure Transmission</a:t>
            </a:r>
            <a:r>
              <a:rPr b="0" sz="1425" i="0" u="none">
                <a:solidFill>
                  <a:srgbClr val="CBD5E1"/>
                </a:solidFill>
                <a:latin typeface="Plus Jakarta Sans"/>
              </a:rPr>
              <a:t> Background event handler relays extracted payload via zero-latency messaging bridge to Local Flask backend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4600426"/>
            <a:ext cx="4705350" cy="1251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FFFFFF"/>
                </a:solidFill>
                <a:latin typeface="Plus Jakarta Sans"/>
              </a:rPr>
              <a:t>Heuristic Analysis</a:t>
            </a:r>
            <a:r>
              <a:rPr b="0" sz="1425" i="0" u="none">
                <a:solidFill>
                  <a:srgbClr val="CBD5E1"/>
                </a:solidFill>
                <a:latin typeface="Plus Jakarta Sans"/>
              </a:rPr>
              <a:t> Python backend evaluates text stream against custom regex pattern dictionaries to calculate risk metrics and threat scores.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3650" y="3145333"/>
            <a:ext cx="5257800" cy="2034182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3431083"/>
            <a:ext cx="4686300" cy="1462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1" u="none">
                <a:solidFill>
                  <a:srgbClr val="64748B"/>
                </a:solidFill>
                <a:latin typeface="Fira Code"/>
              </a:rPr>
              <a:t>// Client Bridge: Zero-latency DOM extraction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const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pageText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document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body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innerText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; </a:t>
            </a:r>
            <a:r>
              <a:rPr b="0" sz="1200" i="1" u="none">
                <a:solidFill>
                  <a:srgbClr val="64748B"/>
                </a:solidFill>
                <a:latin typeface="Fira Code"/>
              </a:rPr>
              <a:t>// Asynchronous background relay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chrome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runtime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sendMessage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({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action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: </a:t>
            </a:r>
            <a:r>
              <a:rPr b="0" sz="1200" i="0" u="none">
                <a:solidFill>
                  <a:srgbClr val="A3E635"/>
                </a:solidFill>
                <a:latin typeface="Fira Code"/>
              </a:rPr>
              <a:t>"scanText"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,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text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: 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pageText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,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timestamp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: 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Date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.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now</a:t>
            </a:r>
            <a:r>
              <a:rPr b="0" sz="1200" i="0" u="none">
                <a:solidFill>
                  <a:srgbClr val="E2E8F0"/>
                </a:solidFill>
                <a:latin typeface="Fira Code"/>
              </a:rPr>
              <a:t>() 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1673125"/>
            <a:ext cx="2381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counter(workflow-counter)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968228"/>
            <a:ext cx="2381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counter(workflow-counter)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552801"/>
            <a:ext cx="2381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FFFFFF"/>
                </a:solidFill>
                <a:latin typeface="Plus Jakarta Sans"/>
              </a:rPr>
              <a:t>counter(workflow-counter)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1850" y="2840533"/>
            <a:ext cx="15335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"/>
              </a:rPr>
              <a:t> content_bridge.js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0" y="2859583"/>
            <a:ext cx="11430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Architecture &amp;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1687"/>
            <a:ext cx="3486150" cy="3762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71687"/>
            <a:ext cx="3486150" cy="3762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71687"/>
            <a:ext cx="3486150" cy="3762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462212"/>
            <a:ext cx="619125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71862"/>
            <a:ext cx="213026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High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00487"/>
            <a:ext cx="289560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Extracting relevant page text instead of raw HTML significantly reduces unnecessary data transfer and processing overhead, maintaining native browsing speeds.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462212"/>
            <a:ext cx="762000" cy="771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71862"/>
            <a:ext cx="289036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Privacy-Focused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900487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The MVP is designed for stateless analysis: page text is processed strictly for the immediate scan without storing it as persistent user data on servers.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462212"/>
            <a:ext cx="714375" cy="7715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71862"/>
            <a:ext cx="12301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900487"/>
            <a:ext cx="28956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The modular Python architecture allows seamless future scaling into advanced machine learning models and open-source zero-shot transformers.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671762"/>
            <a:ext cx="33337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075" y="2671762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2671762"/>
            <a:ext cx="42862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Feasibility &amp; 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161282"/>
          <a:ext cx="11010897" cy="3583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404270"/>
                <a:gridCol w="2389286"/>
                <a:gridCol w="1707653"/>
                <a:gridCol w="2509688"/>
              </a:tblGrid>
              <a:tr h="89579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Standard AdBlockers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Anti-Trackers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Dark Pattern Guardian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89579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Detects Fake Scarcity &amp; Urgency Timers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Yes (Custom Engine)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895796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Unmasks Hidden Drip Fees &amp; Confirmshaming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Yes (Heuristic Weights)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89579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Built 100% From Scratch (Zero Black-Box APIs)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5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Yes (Full Compliance)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323760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4820" y="3237607"/>
            <a:ext cx="23892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84107" y="3237607"/>
            <a:ext cx="1707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1761" y="3237607"/>
            <a:ext cx="2509688" cy="95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91761" y="2170807"/>
            <a:ext cx="9525" cy="10763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91925" y="2170807"/>
            <a:ext cx="9525" cy="10763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3978622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94820" y="3978622"/>
            <a:ext cx="23892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84107" y="3978622"/>
            <a:ext cx="1707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91761" y="3978622"/>
            <a:ext cx="25096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1761" y="3247132"/>
            <a:ext cx="9525" cy="74101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91925" y="3247132"/>
            <a:ext cx="9525" cy="74101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993927"/>
            <a:ext cx="440427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94820" y="4993927"/>
            <a:ext cx="23892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84107" y="4993927"/>
            <a:ext cx="17076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1761" y="4993927"/>
            <a:ext cx="25096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1761" y="3988147"/>
            <a:ext cx="9525" cy="101530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91925" y="3988147"/>
            <a:ext cx="9525" cy="101530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1761" y="5003452"/>
            <a:ext cx="9525" cy="73149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91925" y="5003452"/>
            <a:ext cx="9525" cy="73149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218" y="5270152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76" y="5270152"/>
            <a:ext cx="14287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146" y="4391917"/>
            <a:ext cx="14287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146" y="5270152"/>
            <a:ext cx="1428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676" y="4391917"/>
            <a:ext cx="1428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068" y="4254847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146" y="3513832"/>
            <a:ext cx="1428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793" y="3513832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676" y="3513832"/>
            <a:ext cx="1428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676" y="3513832"/>
            <a:ext cx="1428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3146" y="3513832"/>
            <a:ext cx="1428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793" y="3513832"/>
            <a:ext cx="17145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676" y="4391917"/>
            <a:ext cx="14287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146" y="4391917"/>
            <a:ext cx="14287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068" y="4254847"/>
            <a:ext cx="17145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76" y="5270152"/>
            <a:ext cx="142875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146" y="5270152"/>
            <a:ext cx="14287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218" y="5270152"/>
            <a:ext cx="171450" cy="190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Competitive Advantage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819275"/>
            <a:ext cx="2667000" cy="2101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819275"/>
            <a:ext cx="2667000" cy="2101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0" y="1819275"/>
            <a:ext cx="2667000" cy="2101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4206180"/>
            <a:ext cx="2667000" cy="21011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206180"/>
            <a:ext cx="2667000" cy="21011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2250" y="2114550"/>
            <a:ext cx="762000" cy="76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93168" y="3067050"/>
            <a:ext cx="13001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Amrutha Siri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4575" y="3381375"/>
            <a:ext cx="16573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BACKEND / PYTHON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114550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55920" y="3067050"/>
            <a:ext cx="128016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Dhruv Nema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337" y="3381375"/>
            <a:ext cx="14573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EXTENSION / MV3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0" y="2114550"/>
            <a:ext cx="762000" cy="76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03644" y="3067050"/>
            <a:ext cx="169021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Adarsh Sreeram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9612" y="3381375"/>
            <a:ext cx="14382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NLP / HEURISTICS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625" y="4501455"/>
            <a:ext cx="762000" cy="76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09548" y="5453955"/>
            <a:ext cx="122015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Asmita Nag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7650" y="5768280"/>
            <a:ext cx="1123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DATA / REGEX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4501455"/>
            <a:ext cx="762000" cy="76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82238" y="5453955"/>
            <a:ext cx="218027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Bhavya Mangrauthia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725" y="5768280"/>
            <a:ext cx="12573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 Medium"/>
              </a:rPr>
              <a:t>UI / UX / POPUP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0850" y="2324100"/>
            <a:ext cx="304800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2324100"/>
            <a:ext cx="3048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6350" y="2324100"/>
            <a:ext cx="304800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5312" y="4711005"/>
            <a:ext cx="428625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8062" y="4711005"/>
            <a:ext cx="428625" cy="342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Team Infinite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073747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84899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84899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22317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216622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https://img.magnific.com/free-photo/digital-cybersecurity-shield-network-background_84443-85964.jpg?semt=ais_hybrid&amp;w=740&amp;q=80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46233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www.magnific.com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10706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4001392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https://elements-resized.envatousercontent.com/elements-video-cover-images/files/171ced02-c954-4fdd-ac4b-fc2ac82b5bef/inline_image_preview.jpg?w=500&amp;cf_fit=cover&amp;q=85&amp;format=auto&amp;s=4668fb1461de2cac6e96b8fef0e661ccc5db7677d4aa33c1674e52f47ae8603c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445198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elements.envato.com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